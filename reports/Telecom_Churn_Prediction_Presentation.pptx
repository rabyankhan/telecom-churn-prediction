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TELECOM CUSTOMER</a:t>
            </a:r>
            <a:br/>
            <a:r>
              <a:t>CHURN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94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E0EE"/>
                </a:solidFill>
              </a:defRPr>
            </a:pPr>
            <a:r>
              <a:t>Exploratory Data Analysis | Machine Learning | Interactive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E0EE"/>
                </a:solidFill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Business problem and project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•  Business problem: customer churn can reduce recurring revenue and increase acquisition costs.</a:t>
            </a:r>
          </a:p>
          <a:p>
            <a:pPr>
              <a:spcAft>
                <a:spcPts val="15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•  Goal: explore customer behavior and predict which customers may leave the telecom service.</a:t>
            </a:r>
          </a:p>
          <a:p>
            <a:pPr>
              <a:spcAft>
                <a:spcPts val="15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•  Workflow: data audit and cleaning, EDA, feature engineering, model training, tuning and evaluation.</a:t>
            </a:r>
          </a:p>
          <a:p>
            <a:pPr>
              <a:spcAft>
                <a:spcPts val="15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•  Deliverable: an interactive prediction prototype to support customer-retention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Dataset &amp; Data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Data quality checks before 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Raw dataset inspected: 1,300 rows and 23 columns.</a:t>
            </a:r>
          </a:p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Audit identified duplicate records, inconsistent category labels, placeholder values, mixed numeric formats and missing data.</a:t>
            </a:r>
          </a:p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Cleaning standardized text and churn labels, converted numeric fields and checked invalid values.</a:t>
            </a:r>
          </a:p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Duplicate rows were removed; the original raw dataset was preserved.</a:t>
            </a:r>
          </a:p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Cleaned dataset: telecom_churn_clean.csv.</a:t>
            </a:r>
          </a:p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Modeling dataset: 1,238 rows after cleaning and target-availability checks.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EDA: Churn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40664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828800"/>
            <a:ext cx="3337560" cy="2560320"/>
          </a:xfrm>
          <a:prstGeom prst="roundRect">
            <a:avLst/>
          </a:prstGeom>
          <a:solidFill>
            <a:srgbClr val="F2F6FA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2057400"/>
            <a:ext cx="2880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C918C"/>
                </a:solidFill>
              </a:defRPr>
            </a:pPr>
            <a:r>
              <a:t>KEY INSIGHT</a:t>
            </a:r>
          </a:p>
          <a:p>
            <a:pPr>
              <a:spcBef>
                <a:spcPts val="1200"/>
              </a:spcBef>
              <a:defRPr sz="1700">
                <a:solidFill>
                  <a:srgbClr val="2D343C"/>
                </a:solidFill>
                <a:latin typeface="Aptos"/>
              </a:defRPr>
            </a:pPr>
            <a:r>
              <a:t>403 of 1,238 customers are labeled churned (32.6%), making churn an important business concern.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EDA: Churn by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urn_by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40664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828800"/>
            <a:ext cx="3337560" cy="2560320"/>
          </a:xfrm>
          <a:prstGeom prst="roundRect">
            <a:avLst/>
          </a:prstGeom>
          <a:solidFill>
            <a:srgbClr val="F2F6FA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2057400"/>
            <a:ext cx="2880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C918C"/>
                </a:solidFill>
              </a:defRPr>
            </a:pPr>
            <a:r>
              <a:t>KEY INSIGHT</a:t>
            </a:r>
          </a:p>
          <a:p>
            <a:pPr>
              <a:spcBef>
                <a:spcPts val="1200"/>
              </a:spcBef>
              <a:defRPr sz="1700">
                <a:solidFill>
                  <a:srgbClr val="2D343C"/>
                </a:solidFill>
                <a:latin typeface="Aptos"/>
              </a:defRPr>
            </a:pPr>
            <a:r>
              <a:t>Month-to-month customers have the highest observed churn rate (50.7%) among contract types.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EDA: Monthly Charges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nthly_charges_vs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40664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828800"/>
            <a:ext cx="3337560" cy="2560320"/>
          </a:xfrm>
          <a:prstGeom prst="roundRect">
            <a:avLst/>
          </a:prstGeom>
          <a:solidFill>
            <a:srgbClr val="F2F6FA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2057400"/>
            <a:ext cx="2880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C918C"/>
                </a:solidFill>
              </a:defRPr>
            </a:pPr>
            <a:r>
              <a:t>KEY INSIGHT</a:t>
            </a:r>
          </a:p>
          <a:p>
            <a:pPr>
              <a:spcBef>
                <a:spcPts val="1200"/>
              </a:spcBef>
              <a:defRPr sz="1700">
                <a:solidFill>
                  <a:srgbClr val="2D343C"/>
                </a:solidFill>
                <a:latin typeface="Aptos"/>
              </a:defRPr>
            </a:pPr>
            <a:r>
              <a:t>Median monthly charges are higher for churned customers (84.80) than retained customers (71.27).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EDA: Tenure and Churn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nure_vs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40664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828800"/>
            <a:ext cx="3337560" cy="2560320"/>
          </a:xfrm>
          <a:prstGeom prst="roundRect">
            <a:avLst/>
          </a:prstGeom>
          <a:solidFill>
            <a:srgbClr val="F2F6FA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2057400"/>
            <a:ext cx="2880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C918C"/>
                </a:solidFill>
              </a:defRPr>
            </a:pPr>
            <a:r>
              <a:t>KEY INSIGHT</a:t>
            </a:r>
          </a:p>
          <a:p>
            <a:pPr>
              <a:spcBef>
                <a:spcPts val="1200"/>
              </a:spcBef>
              <a:defRPr sz="1700">
                <a:solidFill>
                  <a:srgbClr val="2D343C"/>
                </a:solidFill>
                <a:latin typeface="Aptos"/>
              </a:defRPr>
            </a:pPr>
            <a:r>
              <a:t>Churned customers have shorter median tenure (18 months) than retained customers (27.5 months).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EDA: Churn by Internet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urn_by_internet_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40664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828800"/>
            <a:ext cx="3337560" cy="2560320"/>
          </a:xfrm>
          <a:prstGeom prst="roundRect">
            <a:avLst/>
          </a:prstGeom>
          <a:solidFill>
            <a:srgbClr val="F2F6FA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2057400"/>
            <a:ext cx="2880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C918C"/>
                </a:solidFill>
              </a:defRPr>
            </a:pPr>
            <a:r>
              <a:t>KEY INSIGHT</a:t>
            </a:r>
          </a:p>
          <a:p>
            <a:pPr>
              <a:spcBef>
                <a:spcPts val="1200"/>
              </a:spcBef>
              <a:defRPr sz="1700">
                <a:solidFill>
                  <a:srgbClr val="2D343C"/>
                </a:solidFill>
                <a:latin typeface="Aptos"/>
              </a:defRPr>
            </a:pPr>
            <a:r>
              <a:t>Fiber optic customers have the highest observed churn rate (41.4%) among internet-service groups.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Feature Engineering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•  Engineered features include customer_risk_signals and calculated_monthly_charge.</a:t>
            </a:r>
          </a:p>
          <a:p>
            <a:pPr>
              <a:spcAft>
                <a:spcPts val="15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•  Numeric preprocessing: median imputation and standard scaling.</a:t>
            </a:r>
          </a:p>
          <a:p>
            <a:pPr>
              <a:spcAft>
                <a:spcPts val="15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•  Categorical preprocessing: most-frequent imputation and one-hot encoding.</a:t>
            </a:r>
          </a:p>
          <a:p>
            <a:pPr>
              <a:spcAft>
                <a:spcPts val="15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•  Preprocessing steps are contained within model pipelines to reduce data leakage.</a:t>
            </a:r>
          </a:p>
          <a:p>
            <a:pPr>
              <a:spcAft>
                <a:spcPts val="15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•  The train/test split uses stratification to preserve target-class proportions.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Model Development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•  Baseline classifiers: Logistic Regression, Decision Tree, Random Forest and XGBoost.</a:t>
            </a:r>
          </a:p>
          <a:p>
            <a:pPr>
              <a:spcAft>
                <a:spcPts val="15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•  Random Forest and XGBoost were tuned using cross-validation.</a:t>
            </a:r>
          </a:p>
          <a:p>
            <a:pPr>
              <a:spcAft>
                <a:spcPts val="15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•  Evaluation metrics include accuracy, precision, recall, F1 score and ROC-AUC.</a:t>
            </a:r>
          </a:p>
          <a:p>
            <a:pPr>
              <a:spcAft>
                <a:spcPts val="15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•  Confusion matrices were generated for both tuned models.</a:t>
            </a:r>
          </a:p>
          <a:p>
            <a:pPr>
              <a:spcAft>
                <a:spcPts val="15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•  Recall and F1 are useful churn metrics because missing likely churners may be costly.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Tuned Random Forest: Test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Selected for the highest test F1 score among the compared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56032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276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83080"/>
            <a:ext cx="24140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764B0"/>
                </a:solidFill>
                <a:latin typeface="Aptos Display"/>
              </a:defRPr>
            </a:pPr>
            <a:r>
              <a:t>73.39%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2331720"/>
            <a:ext cx="2414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C"/>
                </a:solidFill>
              </a:defRPr>
            </a:pPr>
            <a:r>
              <a:t>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00200"/>
            <a:ext cx="256032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783080"/>
            <a:ext cx="24140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C918C"/>
                </a:solidFill>
                <a:latin typeface="Aptos Display"/>
              </a:defRPr>
            </a:pPr>
            <a:r>
              <a:t>57.89%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331720"/>
            <a:ext cx="2414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C"/>
                </a:solidFill>
              </a:defRPr>
            </a:pPr>
            <a:r>
              <a:t>Precision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256032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276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83080"/>
            <a:ext cx="24140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764B0"/>
                </a:solidFill>
                <a:latin typeface="Aptos Display"/>
              </a:defRPr>
            </a:pPr>
            <a:r>
              <a:t>67.90%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331720"/>
            <a:ext cx="2414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C"/>
                </a:solidFill>
              </a:defRPr>
            </a:pPr>
            <a:r>
              <a:t>Recall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600200"/>
            <a:ext cx="233172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1C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1783080"/>
            <a:ext cx="2185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C918C"/>
                </a:solidFill>
                <a:latin typeface="Aptos Display"/>
              </a:defRPr>
            </a:pPr>
            <a:r>
              <a:t>62.50%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2331720"/>
            <a:ext cx="2185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43C"/>
                </a:solidFill>
              </a:defRPr>
            </a:pPr>
            <a:r>
              <a:t>F1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37560"/>
            <a:ext cx="10607040" cy="2377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D343C"/>
                </a:solidFill>
                <a:latin typeface="Aptos"/>
              </a:defRPr>
            </a:pPr>
            <a:r>
              <a:t>•  ROC-AUC: 79.27%.</a:t>
            </a:r>
          </a:p>
          <a:p>
            <a:pPr>
              <a:spcAft>
                <a:spcPts val="1500"/>
              </a:spcAft>
              <a:defRPr sz="1600">
                <a:solidFill>
                  <a:srgbClr val="2D343C"/>
                </a:solidFill>
                <a:latin typeface="Aptos"/>
              </a:defRPr>
            </a:pPr>
            <a:r>
              <a:t>•  Tuned XGBoost achieved 74.60% accuracy, but its F1 score was lower at 55.94%.</a:t>
            </a:r>
          </a:p>
          <a:p>
            <a:pPr>
              <a:spcAft>
                <a:spcPts val="1500"/>
              </a:spcAft>
              <a:defRPr sz="1600">
                <a:solidFill>
                  <a:srgbClr val="2D343C"/>
                </a:solidFill>
                <a:latin typeface="Aptos"/>
              </a:defRPr>
            </a:pPr>
            <a:r>
              <a:t>•  These results depend on the dataset and test split; further validation is recommended before real-world 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Tuned Random Forest: 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ndom_forest_tuned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4066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1089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343C"/>
                </a:solidFill>
                <a:latin typeface="Aptos"/>
              </a:defRPr>
            </a:pPr>
            <a:r>
              <a:t>Selected model. Review false negatives and false positives when planning retention actions.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Tuned XGBoost: 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xgboost_tuned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4066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1089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343C"/>
                </a:solidFill>
                <a:latin typeface="Aptos"/>
              </a:defRPr>
            </a:pPr>
            <a:r>
              <a:t>Comparison model. Its test F1 score is lower than tuned Random Forest in this experiment.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Interactive Prediction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02920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Built with Streamlit to accept customer details through an interactive form.</a:t>
            </a:r>
          </a:p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The saved machine-learning pipeline generates a churn prediction and probability estimate.</a:t>
            </a:r>
          </a:p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Screenshot file: reports/screenshots/prediction_result.png.</a:t>
            </a:r>
          </a:p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A prediction is a model estimate, not a guarantee of future behavior.</a:t>
            </a:r>
          </a:p>
        </p:txBody>
      </p:sp>
      <p:pic>
        <p:nvPicPr>
          <p:cNvPr id="5" name="Picture 4" descr="predic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08760"/>
            <a:ext cx="5669280" cy="18047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Month-to-month contracts, higher monthly charges and shorter tenure are associated with higher observed churn in this dataset.</a:t>
            </a:r>
          </a:p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Tuned Random Forest achieved the highest test F1 score among the evaluated models.</a:t>
            </a:r>
          </a:p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The Streamlit application demonstrates how a trained model can support customer-retention workflows.</a:t>
            </a:r>
          </a:p>
          <a:p>
            <a:pPr>
              <a:spcAft>
                <a:spcPts val="15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•  Next steps: validate on newer data, monitor performance, review fairness and assess probability calibration before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D"/>
                </a:solidFill>
                <a:latin typeface="Aptos Display"/>
              </a:defRPr>
            </a:pPr>
            <a:r>
              <a:t>Project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143000" cy="502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D343C"/>
                </a:solidFill>
                <a:latin typeface="Aptos"/>
              </a:defRPr>
            </a:pPr>
            <a:r>
              <a:t>•  telecom_churn_raw.csv — original dataset.</a:t>
            </a:r>
          </a:p>
          <a:p>
            <a:pPr>
              <a:spcAft>
                <a:spcPts val="1500"/>
              </a:spcAft>
              <a:defRPr sz="1600">
                <a:solidFill>
                  <a:srgbClr val="2D343C"/>
                </a:solidFill>
                <a:latin typeface="Aptos"/>
              </a:defRPr>
            </a:pPr>
            <a:r>
              <a:t>•  telecom_churn_clean.csv — cleaned dataset.</a:t>
            </a:r>
          </a:p>
          <a:p>
            <a:pPr>
              <a:spcAft>
                <a:spcPts val="1500"/>
              </a:spcAft>
              <a:defRPr sz="1600">
                <a:solidFill>
                  <a:srgbClr val="2D343C"/>
                </a:solidFill>
                <a:latin typeface="Aptos"/>
              </a:defRPr>
            </a:pPr>
            <a:r>
              <a:t>•  reports/ — audit, missing-value, model comparison and recommendation outputs.</a:t>
            </a:r>
          </a:p>
          <a:p>
            <a:pPr>
              <a:spcAft>
                <a:spcPts val="1500"/>
              </a:spcAft>
              <a:defRPr sz="1600">
                <a:solidFill>
                  <a:srgbClr val="2D343C"/>
                </a:solidFill>
                <a:latin typeface="Aptos"/>
              </a:defRPr>
            </a:pPr>
            <a:r>
              <a:t>•  reports/plots/ — five EDA charts and two tuned-model confusion matrices.</a:t>
            </a:r>
          </a:p>
          <a:p>
            <a:pPr>
              <a:spcAft>
                <a:spcPts val="1500"/>
              </a:spcAft>
              <a:defRPr sz="1600">
                <a:solidFill>
                  <a:srgbClr val="2D343C"/>
                </a:solidFill>
                <a:latin typeface="Aptos"/>
              </a:defRPr>
            </a:pPr>
            <a:r>
              <a:t>•  models/ — saved baseline and tuned model pipelines.</a:t>
            </a:r>
          </a:p>
          <a:p>
            <a:pPr>
              <a:spcAft>
                <a:spcPts val="1500"/>
              </a:spcAft>
              <a:defRPr sz="1600">
                <a:solidFill>
                  <a:srgbClr val="2D343C"/>
                </a:solidFill>
                <a:latin typeface="Aptos"/>
              </a:defRPr>
            </a:pPr>
            <a:r>
              <a:t>•  app.py — interactive Streamlit prediction dashboard.</a:t>
            </a:r>
          </a:p>
          <a:p>
            <a:pPr>
              <a:spcAft>
                <a:spcPts val="1500"/>
              </a:spcAft>
              <a:defRPr sz="1600">
                <a:solidFill>
                  <a:srgbClr val="2D343C"/>
                </a:solidFill>
                <a:latin typeface="Aptos"/>
              </a:defRPr>
            </a:pPr>
            <a:r>
              <a:t>•  README.md and requirements.txt — project documentation and dependencies.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Telecom Customer Churn Prediction |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